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nislav Litvín" userId="a7ced2f0-41c0-4050-b894-548066c4ed27" providerId="ADAL" clId="{851BC7E0-C258-426E-9896-0F5D46EB9C79}"/>
    <pc:docChg chg="modSld">
      <pc:chgData name="Stanislav Litvín" userId="a7ced2f0-41c0-4050-b894-548066c4ed27" providerId="ADAL" clId="{851BC7E0-C258-426E-9896-0F5D46EB9C79}" dt="2026-06-14T14:37:10.013" v="43" actId="947"/>
      <pc:docMkLst>
        <pc:docMk/>
      </pc:docMkLst>
      <pc:sldChg chg="modSp mod">
        <pc:chgData name="Stanislav Litvín" userId="a7ced2f0-41c0-4050-b894-548066c4ed27" providerId="ADAL" clId="{851BC7E0-C258-426E-9896-0F5D46EB9C79}" dt="2026-06-14T14:28:22.242" v="14" actId="20577"/>
        <pc:sldMkLst>
          <pc:docMk/>
          <pc:sldMk cId="0" sldId="257"/>
        </pc:sldMkLst>
        <pc:spChg chg="mod">
          <ac:chgData name="Stanislav Litvín" userId="a7ced2f0-41c0-4050-b894-548066c4ed27" providerId="ADAL" clId="{851BC7E0-C258-426E-9896-0F5D46EB9C79}" dt="2026-06-14T14:28:22.242" v="14" actId="20577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Stanislav Litvín" userId="a7ced2f0-41c0-4050-b894-548066c4ed27" providerId="ADAL" clId="{851BC7E0-C258-426E-9896-0F5D46EB9C79}" dt="2026-06-14T14:34:43.240" v="37" actId="20577"/>
        <pc:sldMkLst>
          <pc:docMk/>
          <pc:sldMk cId="0" sldId="258"/>
        </pc:sldMkLst>
        <pc:spChg chg="mod">
          <ac:chgData name="Stanislav Litvín" userId="a7ced2f0-41c0-4050-b894-548066c4ed27" providerId="ADAL" clId="{851BC7E0-C258-426E-9896-0F5D46EB9C79}" dt="2026-06-14T14:34:43.240" v="37" actId="20577"/>
          <ac:spMkLst>
            <pc:docMk/>
            <pc:sldMk cId="0" sldId="258"/>
            <ac:spMk id="18" creationId="{00000000-0000-0000-0000-000000000000}"/>
          </ac:spMkLst>
        </pc:spChg>
      </pc:sldChg>
      <pc:sldChg chg="modSp mod">
        <pc:chgData name="Stanislav Litvín" userId="a7ced2f0-41c0-4050-b894-548066c4ed27" providerId="ADAL" clId="{851BC7E0-C258-426E-9896-0F5D46EB9C79}" dt="2026-06-14T14:37:10.013" v="43" actId="947"/>
        <pc:sldMkLst>
          <pc:docMk/>
          <pc:sldMk cId="0" sldId="259"/>
        </pc:sldMkLst>
        <pc:spChg chg="mod">
          <ac:chgData name="Stanislav Litvín" userId="a7ced2f0-41c0-4050-b894-548066c4ed27" providerId="ADAL" clId="{851BC7E0-C258-426E-9896-0F5D46EB9C79}" dt="2026-06-14T14:35:13.215" v="38" actId="207"/>
          <ac:spMkLst>
            <pc:docMk/>
            <pc:sldMk cId="0" sldId="259"/>
            <ac:spMk id="4" creationId="{00000000-0000-0000-0000-000000000000}"/>
          </ac:spMkLst>
        </pc:spChg>
        <pc:spChg chg="mod">
          <ac:chgData name="Stanislav Litvín" userId="a7ced2f0-41c0-4050-b894-548066c4ed27" providerId="ADAL" clId="{851BC7E0-C258-426E-9896-0F5D46EB9C79}" dt="2026-06-14T14:36:42.638" v="42" actId="947"/>
          <ac:spMkLst>
            <pc:docMk/>
            <pc:sldMk cId="0" sldId="259"/>
            <ac:spMk id="5" creationId="{00000000-0000-0000-0000-000000000000}"/>
          </ac:spMkLst>
        </pc:spChg>
        <pc:spChg chg="mod">
          <ac:chgData name="Stanislav Litvín" userId="a7ced2f0-41c0-4050-b894-548066c4ed27" providerId="ADAL" clId="{851BC7E0-C258-426E-9896-0F5D46EB9C79}" dt="2026-06-14T14:35:20.539" v="39" actId="207"/>
          <ac:spMkLst>
            <pc:docMk/>
            <pc:sldMk cId="0" sldId="259"/>
            <ac:spMk id="7" creationId="{00000000-0000-0000-0000-000000000000}"/>
          </ac:spMkLst>
        </pc:spChg>
        <pc:spChg chg="mod">
          <ac:chgData name="Stanislav Litvín" userId="a7ced2f0-41c0-4050-b894-548066c4ed27" providerId="ADAL" clId="{851BC7E0-C258-426E-9896-0F5D46EB9C79}" dt="2026-06-14T14:37:10.013" v="43" actId="947"/>
          <ac:spMkLst>
            <pc:docMk/>
            <pc:sldMk cId="0" sldId="259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261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Úvod: představit se, zmínit že se známe z dob covidu. Zdůraznit tradici a regionálnost.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Pojmenovat problém – ne prodávat, ale hledat společné řešení pro zákazníky prodejen.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Zdůraznit osobní vztah – scházeli jsme se před covidem i v době covidu. Nejde o nový subjekt.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Zdůraznit: 50 %+ čistá marže je výjimečné číslo pro retail. Potraviny mají 10–20 %. Navíc ŽÁDNÁ expirace.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Klíčový argument pro nákupčí: žádná komise = čisté účetnictví. Žádné ležáky = žádný strach z pilotu.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Ukázat screenshot aplikace nebo živě. Zdůraznit: personál nemusí nic umět – tlačítka +/−, hotovo.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Nabídnout konktérní termín zahájení pilotu. Zdůraznit: rozhodnutí je na nich – my neseme riziko ležáků.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Zavřít: navrhnout konkrétní datum pilotu a počet prodejen. Mít připravený paper s podmínkami.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Tkanicka je prirodni doplnek k sortimentu – kazdy, kdo kupuje jehlu, muze potrebot tkanicku. Ceska vyroba = prida pribeh a diferenciaci od levne importovane konkurence.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kern="0" spc="4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A-GROSS</a:t>
            </a:r>
            <a:r>
              <a:rPr lang="en-US" sz="6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6400" b="1" kern="0" spc="800" dirty="0">
                <a:solidFill>
                  <a:srgbClr val="E8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AAA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Galanterní první pomoc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venkovské a maloměstské prodejny potravin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0" y="3246120"/>
            <a:ext cx="3657600" cy="0"/>
          </a:xfrm>
          <a:prstGeom prst="line">
            <a:avLst/>
          </a:prstGeom>
          <a:noFill/>
          <a:ln w="19050">
            <a:solidFill>
              <a:srgbClr val="E8533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A-GROSS, s.r.o.  ·  Olomouc-Holice  ·  Tradiční český partner od roku 1992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Příběh 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Proč galanterie mizí z vesnic – přitom ji lidé denně potřebují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212080" cy="1371600"/>
          </a:xfrm>
          <a:prstGeom prst="rect">
            <a:avLst/>
          </a:prstGeom>
          <a:solidFill>
            <a:srgbClr val="FDECEA"/>
          </a:solidFill>
          <a:ln w="12700">
            <a:solidFill>
              <a:srgbClr val="F9C9C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i="1" dirty="0">
                <a:solidFill>
                  <a:srgbClr val="E85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 jehlu a nit? Utrhlo se mi knoflík.
</a:t>
            </a:r>
            <a:r>
              <a:rPr lang="en-US" sz="1300" dirty="0">
                <a:solidFill>
                  <a:srgbClr val="7A74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Odpověď je skoro vždy stejná:
</a:t>
            </a:r>
            <a:r>
              <a:rPr lang="en-US" sz="13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bohužel nemame.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051560"/>
            <a:ext cx="265176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6126480" y="10698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Nejbližší galanterie:  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0" y="106984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s-CZ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</a:t>
            </a:r>
            <a:r>
              <a:rPr lang="cs-CZ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km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444752"/>
            <a:ext cx="265176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6126480" y="14630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Zákazník bez obsloužení:  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0" y="146304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ztráta tržby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837944"/>
            <a:ext cx="265176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6126480" y="18562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Galanterie z </a:t>
            </a:r>
            <a:r>
              <a:rPr lang="cs-CZ" sz="8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malých a </a:t>
            </a:r>
            <a:r>
              <a:rPr lang="en-US" sz="850" dirty="0" err="1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vesnic</a:t>
            </a:r>
            <a:r>
              <a:rPr lang="en-US" sz="8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mizí:  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0" y="185623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s-CZ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231136"/>
            <a:ext cx="265176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6126480" y="22494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Potřeba zákazníků: 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315200" y="2249424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trvá stále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8229600" cy="5943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640080" y="2624328"/>
            <a:ext cx="8046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A-GROSS SOS  </a:t>
            </a:r>
            <a:r>
              <a:rPr lang="en-US" sz="13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kompaktní modul </a:t>
            </a:r>
            <a:r>
              <a:rPr lang="en-US" sz="1300" b="1" dirty="0">
                <a:solidFill>
                  <a:srgbClr val="E8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0,25 m²</a:t>
            </a: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přímo do vašich prodejen. Zákazník dostane, co potřebuje.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A-GROSS</a:t>
            </a:r>
            <a:r>
              <a:rPr lang="en-US" sz="2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v oboru od roku 1992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Tradiční český rodinný velkoobchod s textilní galanterií · Olomouc-Holice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993392" cy="233172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180136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let tradice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8912" y="2112264"/>
            <a:ext cx="17190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Nepřetržitý provoz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roku 1992.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Nejsme startup.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450592" y="1234440"/>
            <a:ext cx="1993392" cy="233172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4173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15184" y="180136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8 000 položek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15184" y="2112264"/>
            <a:ext cx="17190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Vlastní sklad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Olomouci-Holici.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Vždy naskladněno.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626864" y="1234440"/>
            <a:ext cx="1993392" cy="233172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14173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91456" y="180136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Vlastní prodejny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791456" y="2112264"/>
            <a:ext cx="17190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Víme, co zákazníci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kupují a co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pultu leží.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803136" y="1234440"/>
            <a:ext cx="1993392" cy="233172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304" y="14173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67728" y="180136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s-CZ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Celá ČR 3000 zákazníků 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967728" y="2112264"/>
            <a:ext cx="17190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Vlastní logistika.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Známe místní trh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osobně.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7A74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Nejsme anonymní dodavatel — jsme partner, který drží slovo a je osobně dosažitelný.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Finanční logika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93392" cy="1417320"/>
          </a:xfrm>
          <a:prstGeom prst="rect">
            <a:avLst/>
          </a:prstGeom>
          <a:solidFill>
            <a:schemeClr val="bg2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1993392" cy="8787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50 %+</a:t>
            </a:r>
            <a:endParaRPr lang="en-US" sz="3400" dirty="0">
              <a:solidFill>
                <a:srgbClr val="FF33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884578"/>
            <a:ext cx="199339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Čistá marže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každé položky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1005840"/>
            <a:ext cx="1993392" cy="1417320"/>
          </a:xfrm>
          <a:prstGeom prst="rect">
            <a:avLst/>
          </a:prstGeom>
          <a:solidFill>
            <a:schemeClr val="bg2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2450592" y="1078992"/>
            <a:ext cx="1993392" cy="8787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0,25 m²</a:t>
            </a:r>
            <a:endParaRPr lang="en-US" sz="3400" dirty="0">
              <a:solidFill>
                <a:srgbClr val="FF33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450592" y="1884578"/>
            <a:ext cx="199339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Plocha modulu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prodejně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005840"/>
            <a:ext cx="1993392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4626864" y="1078992"/>
            <a:ext cx="1993392" cy="8787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~20 000 Kč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26864" y="1884578"/>
            <a:ext cx="199339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Odhadovaný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roční zisk / stojan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1005840"/>
            <a:ext cx="1993392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6803136" y="1078992"/>
            <a:ext cx="1993392" cy="8787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Kč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03136" y="1884578"/>
            <a:ext cx="199339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Riziko odpisů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prodejnu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822960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640080" y="26791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Srovnání marží v potravinové prodejně: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20240" y="2999232"/>
            <a:ext cx="768096" cy="155448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640080" y="298094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Základní potraviny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34056" y="298094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20240" y="3200400"/>
            <a:ext cx="1152144" cy="155448"/>
          </a:xfrm>
          <a:prstGeom prst="rect">
            <a:avLst/>
          </a:prstGeom>
          <a:solidFill>
            <a:srgbClr val="BBBBB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640080" y="31821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Nápoje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118104" y="31821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20240" y="3401568"/>
            <a:ext cx="2240280" cy="155448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640080" y="338328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Non-food drogerie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206240" y="3383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920240" y="3602736"/>
            <a:ext cx="3200400" cy="155448"/>
          </a:xfrm>
          <a:prstGeom prst="rect">
            <a:avLst/>
          </a:prstGeom>
          <a:solidFill>
            <a:srgbClr val="E8533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640080" y="358444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A-GROSS SOS galanterie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66360" y="35844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005072"/>
            <a:ext cx="8229600" cy="594360"/>
          </a:xfrm>
          <a:prstGeom prst="rect">
            <a:avLst/>
          </a:prstGeom>
          <a:solidFill>
            <a:srgbClr val="FDECEA"/>
          </a:solidFill>
          <a:ln w="12700">
            <a:solidFill>
              <a:srgbClr val="F9C9C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640080" y="40416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Priklad – jehly Organ Universal:  </a:t>
            </a: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 39,44 Kc</a:t>
            </a:r>
            <a:r>
              <a:rPr lang="en-US" sz="11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MOC 95,90 Kc vcetne DPH = MOC bez DPH  </a:t>
            </a: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79,26 Kc</a:t>
            </a:r>
            <a:r>
              <a:rPr lang="en-US" sz="11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vas zisk  </a:t>
            </a:r>
            <a:r>
              <a:rPr lang="en-US" sz="1150" b="1" dirty="0">
                <a:solidFill>
                  <a:srgbClr val="E8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39,82 Kc  (50,2 %)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Obchodní model – bez rizika pro prodejnu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365760" y="1252728"/>
            <a:ext cx="3931920" cy="2560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457200" y="10332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Pevný nákup (faktura)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0020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600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Standardní fakturace – žádná komise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7568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2075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Zboží přechází do vašeho vlastnictví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55117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2551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Jednoduchá účetní evidence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026664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30266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Ceny pevné a garantované ceníkem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50215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22960" y="3502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Marže minimálně 50 % na každé položce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4846320" y="10058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Shape 12"/>
          <p:cNvSpPr/>
          <p:nvPr/>
        </p:nvSpPr>
        <p:spPr>
          <a:xfrm>
            <a:off x="4846320" y="1005840"/>
            <a:ext cx="3931920" cy="502920"/>
          </a:xfrm>
          <a:prstGeom prst="rect">
            <a:avLst/>
          </a:prstGeom>
          <a:solidFill>
            <a:srgbClr val="E8533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3"/>
          <p:cNvSpPr/>
          <p:nvPr/>
        </p:nvSpPr>
        <p:spPr>
          <a:xfrm>
            <a:off x="4846320" y="1252728"/>
            <a:ext cx="3931920" cy="256032"/>
          </a:xfrm>
          <a:prstGeom prst="rect">
            <a:avLst/>
          </a:prstGeom>
          <a:solidFill>
            <a:srgbClr val="E8533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Text 14"/>
          <p:cNvSpPr/>
          <p:nvPr/>
        </p:nvSpPr>
        <p:spPr>
          <a:xfrm>
            <a:off x="4937760" y="10332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Garance výměny ležáků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4983480" y="1655064"/>
            <a:ext cx="118872" cy="118872"/>
          </a:xfrm>
          <a:prstGeom prst="line">
            <a:avLst/>
          </a:prstGeom>
          <a:solidFill>
            <a:srgbClr val="E8533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Text 16"/>
          <p:cNvSpPr/>
          <p:nvPr/>
        </p:nvSpPr>
        <p:spPr>
          <a:xfrm>
            <a:off x="5184648" y="16002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Systém sleduje každý artikl v každé prodejně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983480" y="2130552"/>
            <a:ext cx="118872" cy="118872"/>
          </a:xfrm>
          <a:prstGeom prst="line">
            <a:avLst/>
          </a:prstGeom>
          <a:solidFill>
            <a:srgbClr val="E8533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Text 18"/>
          <p:cNvSpPr/>
          <p:nvPr/>
        </p:nvSpPr>
        <p:spPr>
          <a:xfrm>
            <a:off x="5184648" y="20756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3 měsících bez prodeje → červený SOS bod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983480" y="2606040"/>
            <a:ext cx="118872" cy="118872"/>
          </a:xfrm>
          <a:prstGeom prst="line">
            <a:avLst/>
          </a:prstGeom>
          <a:solidFill>
            <a:srgbClr val="E8533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Text 20"/>
          <p:cNvSpPr/>
          <p:nvPr/>
        </p:nvSpPr>
        <p:spPr>
          <a:xfrm>
            <a:off x="5184648" y="25511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Při dalším závozu vyměníme ZDARMA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983480" y="3081528"/>
            <a:ext cx="118872" cy="118872"/>
          </a:xfrm>
          <a:prstGeom prst="line">
            <a:avLst/>
          </a:prstGeom>
          <a:solidFill>
            <a:srgbClr val="E8533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Text 22"/>
          <p:cNvSpPr/>
          <p:nvPr/>
        </p:nvSpPr>
        <p:spPr>
          <a:xfrm>
            <a:off x="5184648" y="30266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Výměna za garantované bestsellery (záplaty, gumy…)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983480" y="3557016"/>
            <a:ext cx="118872" cy="118872"/>
          </a:xfrm>
          <a:prstGeom prst="line">
            <a:avLst/>
          </a:prstGeom>
          <a:solidFill>
            <a:srgbClr val="E8533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Text 24"/>
          <p:cNvSpPr/>
          <p:nvPr/>
        </p:nvSpPr>
        <p:spPr>
          <a:xfrm>
            <a:off x="5184648" y="35021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Podmínka: nepoškozené zboží v orig. obalu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365760" y="4334256"/>
            <a:ext cx="841248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Text 26"/>
          <p:cNvSpPr/>
          <p:nvPr/>
        </p:nvSpPr>
        <p:spPr>
          <a:xfrm>
            <a:off x="548640" y="4361688"/>
            <a:ext cx="8138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Výsledek: kupujete zboží se 50%+ marží a víte, že nikdy nebudete držet neprodejné položky.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Aplikace &amp; Logistika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Blbovzdorné objednávání pro personál – bez školení, bez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670048" cy="219456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25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170992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kliknutí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8912" y="2020824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Výběr prodejny → přidat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zboží (+/− po 5 ks) →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odeslat. Nic víc.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82112" y="1143000"/>
            <a:ext cx="2670048" cy="219456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3258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46704" y="170992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bod hlídá ležáky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46704" y="2020824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červený = 3 měsíce bez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pohybu → výměna.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zelený = objednej více.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89904" y="1143000"/>
            <a:ext cx="2670048" cy="219456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3258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54496" y="170992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Přehled &amp; marže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54496" y="2020824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Košík ukáže NC, MOC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marži v reálném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čase.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74320" y="3474720"/>
            <a:ext cx="1993392" cy="1188720"/>
          </a:xfrm>
          <a:prstGeom prst="rect">
            <a:avLst/>
          </a:prstGeom>
          <a:solidFill>
            <a:srgbClr val="222222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547872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5760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Dodání do 24 h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6576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přijetí objednávky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2450592" y="3474720"/>
            <a:ext cx="1993392" cy="1188720"/>
          </a:xfrm>
          <a:prstGeom prst="rect">
            <a:avLst/>
          </a:prstGeom>
          <a:solidFill>
            <a:srgbClr val="222222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5184" y="3547872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542032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Doprava ZDARMA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2542032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při objednávce ≥ 1 200 Kč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626864" y="3474720"/>
            <a:ext cx="1993392" cy="1188720"/>
          </a:xfrm>
          <a:prstGeom prst="rect">
            <a:avLst/>
          </a:prstGeom>
          <a:solidFill>
            <a:srgbClr val="222222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456" y="3547872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718304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objednávka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718304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1 200 Kč vč. DPH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6803136" y="3474720"/>
            <a:ext cx="1993392" cy="1188720"/>
          </a:xfrm>
          <a:prstGeom prst="rect">
            <a:avLst/>
          </a:prstGeom>
          <a:solidFill>
            <a:srgbClr val="222222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7728" y="3547872"/>
            <a:ext cx="310896" cy="31089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894576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Oblast dovozu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6894576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s-CZ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Česká republika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Pilotní projekt – bez rizika, s reálnými daty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0392" y="1024128"/>
            <a:ext cx="658368" cy="658368"/>
          </a:xfrm>
          <a:prstGeom prst="line">
            <a:avLst/>
          </a:prstGeom>
          <a:solidFill>
            <a:srgbClr val="E8533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850392" y="1024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54480" y="1344168"/>
            <a:ext cx="429768" cy="0"/>
          </a:xfrm>
          <a:prstGeom prst="line">
            <a:avLst/>
          </a:prstGeom>
          <a:noFill/>
          <a:ln w="190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1618488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393192" y="18288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Výběr prodejen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210312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 vybraných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prodejen vaší sítě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9464" y="1024128"/>
            <a:ext cx="658368" cy="658368"/>
          </a:xfrm>
          <a:prstGeom prst="line">
            <a:avLst/>
          </a:prstGeom>
          <a:solidFill>
            <a:srgbClr val="E8533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569464" y="1024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73552" y="1344168"/>
            <a:ext cx="429768" cy="0"/>
          </a:xfrm>
          <a:prstGeom prst="line">
            <a:avLst/>
          </a:prstGeom>
          <a:noFill/>
          <a:ln w="190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2039112" y="1783080"/>
            <a:ext cx="1618488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2112264" y="18288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Nasazení modulů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12264" y="210312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 err="1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Dovoz</a:t>
            </a:r>
            <a:r>
              <a:rPr lang="en-US" sz="9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cs-CZ" sz="9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zboží </a:t>
            </a:r>
            <a:r>
              <a:rPr lang="en-US" sz="9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0,25 m²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88536" y="1024128"/>
            <a:ext cx="658368" cy="658368"/>
          </a:xfrm>
          <a:prstGeom prst="line">
            <a:avLst/>
          </a:prstGeom>
          <a:solidFill>
            <a:srgbClr val="E8533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4288536" y="1024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92624" y="1344168"/>
            <a:ext cx="429768" cy="0"/>
          </a:xfrm>
          <a:prstGeom prst="line">
            <a:avLst/>
          </a:prstGeom>
          <a:noFill/>
          <a:ln w="190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3758184" y="1783080"/>
            <a:ext cx="1618488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3831336" y="18288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měsíce provozu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31336" y="210312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Prodej, SOS </a:t>
            </a:r>
            <a:r>
              <a:rPr lang="en-US" sz="950" dirty="0" err="1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systém</a:t>
            </a:r>
            <a:r>
              <a:rPr lang="cs-CZ" sz="9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 APP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hlídá obrátku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07608" y="1024128"/>
            <a:ext cx="658368" cy="658368"/>
          </a:xfrm>
          <a:prstGeom prst="line">
            <a:avLst/>
          </a:prstGeom>
          <a:solidFill>
            <a:srgbClr val="2A7A4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6007608" y="1024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11696" y="1344168"/>
            <a:ext cx="429768" cy="0"/>
          </a:xfrm>
          <a:prstGeom prst="line">
            <a:avLst/>
          </a:prstGeom>
          <a:noFill/>
          <a:ln w="1905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5477256" y="1783080"/>
            <a:ext cx="1618488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/>
          <p:nvPr/>
        </p:nvSpPr>
        <p:spPr>
          <a:xfrm>
            <a:off x="5550408" y="18288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Vyhodnocení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50408" y="210312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 err="1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Reálná</a:t>
            </a:r>
            <a:r>
              <a:rPr lang="en-US" sz="9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</a:t>
            </a:r>
            <a:r>
              <a:rPr lang="cs-CZ" sz="9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 APP</a:t>
            </a:r>
            <a:r>
              <a:rPr lang="en-US" sz="9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prodejnost, marže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26680" y="1024128"/>
            <a:ext cx="658368" cy="658368"/>
          </a:xfrm>
          <a:prstGeom prst="line">
            <a:avLst/>
          </a:prstGeom>
          <a:solidFill>
            <a:srgbClr val="2A7A4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7726680" y="1024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196328" y="1783080"/>
            <a:ext cx="1618488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7269480" y="18288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Vaše rozhodnutí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69480" y="210312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Rozšíření nebo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uprava – vy volíte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01752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4" name="Text 32"/>
          <p:cNvSpPr/>
          <p:nvPr/>
        </p:nvSpPr>
        <p:spPr>
          <a:xfrm>
            <a:off x="548640" y="3090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garantujeme:</a:t>
            </a:r>
            <a:endParaRPr lang="en-US" sz="13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01568"/>
            <a:ext cx="182880" cy="18288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04672" y="33832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Bezplatná výměna ležáků (SOS bod) při každém závozu</a:t>
            </a:r>
            <a:endParaRPr lang="en-US" sz="110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30168"/>
            <a:ext cx="182880" cy="18288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804672" y="36118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Pevný ceník – marže 50 %+ garantována po celou dobu pilotu</a:t>
            </a:r>
            <a:endParaRPr lang="en-US" sz="1100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58768"/>
            <a:ext cx="182880" cy="18288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04672" y="38404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Doprava zdarma ≥ 1 200 Kč  ·  Dodání do 24 h</a:t>
            </a:r>
            <a:endParaRPr lang="cs-CZ" sz="1100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87368"/>
            <a:ext cx="182880" cy="18288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804672" y="40690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Žádná komise, žádné skryté podmínky – standardní obchodní vztah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Spusťme to společně.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57200" y="1508760"/>
            <a:ext cx="2651760" cy="1325880"/>
          </a:xfrm>
          <a:prstGeom prst="rect">
            <a:avLst/>
          </a:prstGeom>
          <a:solidFill>
            <a:srgbClr val="222222"/>
          </a:solidFill>
          <a:ln/>
          <a:effectLst>
            <a:outerShdw blurRad="177800" dist="508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50 %+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čistá marže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64992" y="1508760"/>
            <a:ext cx="2651760" cy="1325880"/>
          </a:xfrm>
          <a:prstGeom prst="rect">
            <a:avLst/>
          </a:prstGeom>
          <a:solidFill>
            <a:srgbClr val="222222"/>
          </a:solidFill>
          <a:ln/>
          <a:effectLst>
            <a:outerShdw blurRad="177800" dist="508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3364992" y="1554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0,25 m²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364992" y="2331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plocha modulu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2784" y="1508760"/>
            <a:ext cx="2651760" cy="1325880"/>
          </a:xfrm>
          <a:prstGeom prst="rect">
            <a:avLst/>
          </a:prstGeom>
          <a:solidFill>
            <a:srgbClr val="222222"/>
          </a:solidFill>
          <a:ln/>
          <a:effectLst>
            <a:outerShdw blurRad="177800" dist="508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6272784" y="1554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Kč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272784" y="2331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riziko ležáků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Pilotní projekt · 10–15 prodejen · 3 měsíce · bez závazků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86000" y="3493008"/>
            <a:ext cx="4572000" cy="731520"/>
          </a:xfrm>
          <a:prstGeom prst="rect">
            <a:avLst/>
          </a:prstGeom>
          <a:solidFill>
            <a:srgbClr val="E8533A"/>
          </a:solidFill>
          <a:ln/>
          <a:effectLst>
            <a:outerShdw blurRad="177800" dist="508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2286000" y="34930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Domluvme termín zahájení pilotu 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A-GROSS, s.r.o.  ·  Olomouc-Holice  ·  www.a-gross.cz  ·  </a:t>
            </a:r>
            <a:r>
              <a:rPr lang="en-US" sz="1000" dirty="0">
                <a:solidFill>
                  <a:srgbClr val="E8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objednavky@a-gross.cz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</a:t>
            </a:r>
            <a:r>
              <a:rPr lang="en-US" sz="22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Tkaničky do bot – přímý dodavatel, česká výroba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E8F5EE"/>
          </a:solidFill>
          <a:ln w="12700">
            <a:solidFill>
              <a:srgbClr val="90D8A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Ceska vyroba primoho dodavatele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bez prostrednika, nizsi NC, silny prodejni argument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2670048" cy="201168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9659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" y="235000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Primy dodavatel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2660904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Nakupujeme primo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</a:t>
            </a:r>
            <a:r>
              <a:rPr lang="cs-CZ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výrobců</a:t>
            </a: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Zadny prostredník.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82112" y="1783080"/>
            <a:ext cx="2670048" cy="201168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9659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46704" y="235000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Marze 50 %+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46704" y="2660904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Stejna logika jako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galanterie. Pevny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cenik, garantovano.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9904" y="1783080"/>
            <a:ext cx="2670048" cy="201168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9659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54496" y="235000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Silna prodejni story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54496" y="2660904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Ceska vyroba =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 pro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zakaznika i retezec.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3913632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Text 14"/>
          <p:cNvSpPr/>
          <p:nvPr/>
        </p:nvSpPr>
        <p:spPr>
          <a:xfrm>
            <a:off x="640080" y="3959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Sortiment: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bavlna bílá / černá   ·   délky 45 / 60 / 75 cm   ·   možnost rozšíření (sport, trekking, dětské)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880</Words>
  <Application>Microsoft Office PowerPoint</Application>
  <PresentationFormat>Předvádění na obrazovce (16:9)</PresentationFormat>
  <Paragraphs>163</Paragraphs>
  <Slides>9</Slides>
  <Notes>9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2" baseType="lpstr">
      <vt:lpstr>Arial</vt:lpstr>
      <vt:lpstr>Cambria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A-GROSS SOS – Galanterní první pomoc</dc:title>
  <dc:subject>PptxGenJS Presentation</dc:subject>
  <dc:creator>A-GROSS, s.r.o.</dc:creator>
  <cp:lastModifiedBy>Stanislav Litvín</cp:lastModifiedBy>
  <cp:revision>2</cp:revision>
  <dcterms:created xsi:type="dcterms:W3CDTF">2026-06-13T13:42:51Z</dcterms:created>
  <dcterms:modified xsi:type="dcterms:W3CDTF">2026-06-14T14:37:19Z</dcterms:modified>
</cp:coreProperties>
</file>